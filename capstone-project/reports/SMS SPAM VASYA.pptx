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M Fell" charset="1" panose="02000000000000000000"/>
      <p:regular r:id="rId20"/>
    </p:embeddedFont>
    <p:embeddedFont>
      <p:font typeface="Rosario" charset="1" panose="02000503040000020003"/>
      <p:regular r:id="rId21"/>
    </p:embeddedFont>
    <p:embeddedFont>
      <p:font typeface="Rosario Bold" charset="1" panose="0200050306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595" y="8334375"/>
            <a:ext cx="4183253" cy="4114800"/>
          </a:xfrm>
          <a:custGeom>
            <a:avLst/>
            <a:gdLst/>
            <a:ahLst/>
            <a:cxnLst/>
            <a:rect r="r" b="b" t="t" l="l"/>
            <a:pathLst>
              <a:path h="4114800" w="4183253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58720">
            <a:off x="14206847" y="7276539"/>
            <a:ext cx="5468028" cy="2644537"/>
          </a:xfrm>
          <a:custGeom>
            <a:avLst/>
            <a:gdLst/>
            <a:ahLst/>
            <a:cxnLst/>
            <a:rect r="r" b="b" t="t" l="l"/>
            <a:pathLst>
              <a:path h="2644537" w="5468028">
                <a:moveTo>
                  <a:pt x="0" y="0"/>
                </a:moveTo>
                <a:lnTo>
                  <a:pt x="5468028" y="0"/>
                </a:lnTo>
                <a:lnTo>
                  <a:pt x="5468028" y="2644537"/>
                </a:lnTo>
                <a:lnTo>
                  <a:pt x="0" y="264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21619" y="-577871"/>
            <a:ext cx="3274982" cy="1792308"/>
          </a:xfrm>
          <a:custGeom>
            <a:avLst/>
            <a:gdLst/>
            <a:ahLst/>
            <a:cxnLst/>
            <a:rect r="r" b="b" t="t" l="l"/>
            <a:pathLst>
              <a:path h="1792308" w="3274982">
                <a:moveTo>
                  <a:pt x="0" y="0"/>
                </a:moveTo>
                <a:lnTo>
                  <a:pt x="3274982" y="0"/>
                </a:lnTo>
                <a:lnTo>
                  <a:pt x="3274982" y="1792308"/>
                </a:lnTo>
                <a:lnTo>
                  <a:pt x="0" y="17923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33475"/>
            <a:ext cx="63228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249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UNIVERSITAS DIAN NUSWANTORO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95409" y="5335697"/>
            <a:ext cx="50110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35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NIM. A11.2024.15987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5409" y="4160728"/>
            <a:ext cx="708686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5"/>
              </a:lnSpc>
            </a:pPr>
            <a:r>
              <a:rPr lang="en-US" sz="75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Vasya Citra 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95409" y="5726222"/>
            <a:ext cx="791103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5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Teknik Informatika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8462" y="1028700"/>
            <a:ext cx="5225074" cy="5205650"/>
          </a:xfrm>
          <a:custGeom>
            <a:avLst/>
            <a:gdLst/>
            <a:ahLst/>
            <a:cxnLst/>
            <a:rect r="r" b="b" t="t" l="l"/>
            <a:pathLst>
              <a:path h="5205650" w="5225074">
                <a:moveTo>
                  <a:pt x="0" y="0"/>
                </a:moveTo>
                <a:lnTo>
                  <a:pt x="5225075" y="0"/>
                </a:lnTo>
                <a:lnTo>
                  <a:pt x="5225075" y="5205650"/>
                </a:lnTo>
                <a:lnTo>
                  <a:pt x="0" y="520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54463" y="4631050"/>
            <a:ext cx="5225074" cy="5205650"/>
          </a:xfrm>
          <a:custGeom>
            <a:avLst/>
            <a:gdLst/>
            <a:ahLst/>
            <a:cxnLst/>
            <a:rect r="r" b="b" t="t" l="l"/>
            <a:pathLst>
              <a:path h="5205650" w="5225074">
                <a:moveTo>
                  <a:pt x="0" y="0"/>
                </a:moveTo>
                <a:lnTo>
                  <a:pt x="5225075" y="0"/>
                </a:lnTo>
                <a:lnTo>
                  <a:pt x="5225075" y="5205650"/>
                </a:lnTo>
                <a:lnTo>
                  <a:pt x="0" y="520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42197" y="2937915"/>
            <a:ext cx="11110378" cy="4989570"/>
          </a:xfrm>
          <a:custGeom>
            <a:avLst/>
            <a:gdLst/>
            <a:ahLst/>
            <a:cxnLst/>
            <a:rect r="r" b="b" t="t" l="l"/>
            <a:pathLst>
              <a:path h="4989570" w="11110378">
                <a:moveTo>
                  <a:pt x="0" y="0"/>
                </a:moveTo>
                <a:lnTo>
                  <a:pt x="11110378" y="0"/>
                </a:lnTo>
                <a:lnTo>
                  <a:pt x="11110378" y="4989570"/>
                </a:lnTo>
                <a:lnTo>
                  <a:pt x="0" y="4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79494" y="1133475"/>
            <a:ext cx="477980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2499">
                <a:solidFill>
                  <a:srgbClr val="4E7AA8"/>
                </a:solidFill>
                <a:latin typeface="Rosario"/>
                <a:ea typeface="Rosario"/>
                <a:cs typeface="Rosario"/>
                <a:sym typeface="Rosario"/>
              </a:rPr>
              <a:t>PROJECT 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75352" y="3952359"/>
            <a:ext cx="8937297" cy="295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447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SMS</a:t>
            </a:r>
            <a:r>
              <a:rPr lang="en-US" sz="447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 SPAM DETECTOR: SISTEM KLASIFIKASI TEKS END-TO-END UNTUK DETEKSI SMS SPAM REAL-TIME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91600"/>
            <a:ext cx="477980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2499">
                <a:solidFill>
                  <a:srgbClr val="4E7AA8"/>
                </a:solidFill>
                <a:latin typeface="Rosario"/>
                <a:ea typeface="Rosario"/>
                <a:cs typeface="Rosario"/>
                <a:sym typeface="Rosario"/>
              </a:rPr>
              <a:t>PROJECT ML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600" y="-596496"/>
            <a:ext cx="2850511" cy="2731308"/>
          </a:xfrm>
          <a:custGeom>
            <a:avLst/>
            <a:gdLst/>
            <a:ahLst/>
            <a:cxnLst/>
            <a:rect r="r" b="b" t="t" l="l"/>
            <a:pathLst>
              <a:path h="2731308" w="2850511">
                <a:moveTo>
                  <a:pt x="0" y="0"/>
                </a:moveTo>
                <a:lnTo>
                  <a:pt x="2850512" y="0"/>
                </a:lnTo>
                <a:lnTo>
                  <a:pt x="2850512" y="2731308"/>
                </a:lnTo>
                <a:lnTo>
                  <a:pt x="0" y="273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8789" y="-336954"/>
            <a:ext cx="2850511" cy="2731308"/>
          </a:xfrm>
          <a:custGeom>
            <a:avLst/>
            <a:gdLst/>
            <a:ahLst/>
            <a:cxnLst/>
            <a:rect r="r" b="b" t="t" l="l"/>
            <a:pathLst>
              <a:path h="2731308" w="2850511">
                <a:moveTo>
                  <a:pt x="0" y="0"/>
                </a:moveTo>
                <a:lnTo>
                  <a:pt x="2850511" y="0"/>
                </a:lnTo>
                <a:lnTo>
                  <a:pt x="2850511" y="2731308"/>
                </a:lnTo>
                <a:lnTo>
                  <a:pt x="0" y="273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8304" y="3611903"/>
            <a:ext cx="12731391" cy="490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SMS sp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am bukan sekadar mengganggu kotak masuk, melainkan gerbang utama penipuan finansial, pencurian data pribadi (phishing), dan penyebaran malware.</a:t>
            </a:r>
          </a:p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Akumul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asi pesan spam menurunkan efisiensi komunikasi harian pengguna telekomunikasi.</a:t>
            </a:r>
          </a:p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Pemfilteran manual oleh operator telekomunikasi sangat lambat, mahal, dan tidak efisien untuk jutaan SMS per hari.</a:t>
            </a:r>
          </a:p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Pesan SMS cenderung pendek, menggunakan singkatan tidak baku, istilah lokal, dan simbol mata uang untuk mengelabui filter teks sederhana.</a:t>
            </a:r>
          </a:p>
          <a:p>
            <a:pPr algn="just">
              <a:lnSpc>
                <a:spcPts val="3249"/>
              </a:lnSpc>
            </a:pPr>
          </a:p>
          <a:p>
            <a:pPr algn="just">
              <a:lnSpc>
                <a:spcPts val="3249"/>
              </a:lnSpc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Problem statement: membangun model ML klasifikasi ham/spam, dikemas dalam aplikasi Streamlit interaktif</a:t>
            </a:r>
          </a:p>
          <a:p>
            <a:pPr algn="just">
              <a:lnSpc>
                <a:spcPts val="324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-1706735" y="8965704"/>
            <a:ext cx="14060511" cy="2253111"/>
          </a:xfrm>
          <a:custGeom>
            <a:avLst/>
            <a:gdLst/>
            <a:ahLst/>
            <a:cxnLst/>
            <a:rect r="r" b="b" t="t" l="l"/>
            <a:pathLst>
              <a:path h="2253111" w="14060511">
                <a:moveTo>
                  <a:pt x="14060511" y="2253111"/>
                </a:moveTo>
                <a:lnTo>
                  <a:pt x="0" y="2253111"/>
                </a:lnTo>
                <a:lnTo>
                  <a:pt x="0" y="0"/>
                </a:lnTo>
                <a:lnTo>
                  <a:pt x="14060511" y="0"/>
                </a:lnTo>
                <a:lnTo>
                  <a:pt x="14060511" y="22531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35433" y="1364522"/>
            <a:ext cx="818542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LATAR BELAKANG &amp; PROBLEM STATEMENT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934224" y="8965704"/>
            <a:ext cx="14060511" cy="2253111"/>
          </a:xfrm>
          <a:custGeom>
            <a:avLst/>
            <a:gdLst/>
            <a:ahLst/>
            <a:cxnLst/>
            <a:rect r="r" b="b" t="t" l="l"/>
            <a:pathLst>
              <a:path h="2253111" w="14060511">
                <a:moveTo>
                  <a:pt x="0" y="2253111"/>
                </a:moveTo>
                <a:lnTo>
                  <a:pt x="14060511" y="2253111"/>
                </a:lnTo>
                <a:lnTo>
                  <a:pt x="14060511" y="0"/>
                </a:lnTo>
                <a:lnTo>
                  <a:pt x="0" y="0"/>
                </a:lnTo>
                <a:lnTo>
                  <a:pt x="0" y="22531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600" y="-596496"/>
            <a:ext cx="2850511" cy="2731308"/>
          </a:xfrm>
          <a:custGeom>
            <a:avLst/>
            <a:gdLst/>
            <a:ahLst/>
            <a:cxnLst/>
            <a:rect r="r" b="b" t="t" l="l"/>
            <a:pathLst>
              <a:path h="2731308" w="2850511">
                <a:moveTo>
                  <a:pt x="0" y="0"/>
                </a:moveTo>
                <a:lnTo>
                  <a:pt x="2850512" y="0"/>
                </a:lnTo>
                <a:lnTo>
                  <a:pt x="2850512" y="2731308"/>
                </a:lnTo>
                <a:lnTo>
                  <a:pt x="0" y="273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8789" y="-336954"/>
            <a:ext cx="2850511" cy="2731308"/>
          </a:xfrm>
          <a:custGeom>
            <a:avLst/>
            <a:gdLst/>
            <a:ahLst/>
            <a:cxnLst/>
            <a:rect r="r" b="b" t="t" l="l"/>
            <a:pathLst>
              <a:path h="2731308" w="2850511">
                <a:moveTo>
                  <a:pt x="0" y="0"/>
                </a:moveTo>
                <a:lnTo>
                  <a:pt x="2850511" y="0"/>
                </a:lnTo>
                <a:lnTo>
                  <a:pt x="2850511" y="2731308"/>
                </a:lnTo>
                <a:lnTo>
                  <a:pt x="0" y="273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9089" y="3407115"/>
            <a:ext cx="7868863" cy="531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Tuj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uan Utama (Objectives):</a:t>
            </a:r>
          </a:p>
          <a:p>
            <a:pPr algn="just">
              <a:lnSpc>
                <a:spcPts val="3249"/>
              </a:lnSpc>
            </a:pPr>
          </a:p>
          <a:p>
            <a:pPr algn="l" marL="561339" indent="-280669" lvl="1">
              <a:lnSpc>
                <a:spcPts val="3249"/>
              </a:lnSpc>
              <a:buAutoNum type="arabicPeriod" startAt="1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O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tomatisasi: Membangun pipeline Machine Learning yang mampu mengklasifikasikan SMS k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k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g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or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i H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am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(b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ukan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sp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am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)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dan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Sp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se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cara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kura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.</a:t>
            </a:r>
          </a:p>
          <a:p>
            <a:pPr algn="l" marL="561339" indent="-280669" lvl="1">
              <a:lnSpc>
                <a:spcPts val="3249"/>
              </a:lnSpc>
              <a:buAutoNum type="arabicPeriod" startAt="1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Robustn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s: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Men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ng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n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i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masa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l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h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ke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tidak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seim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ba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ngan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ke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la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(c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la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imb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l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ance)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ata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et.</a:t>
            </a:r>
          </a:p>
          <a:p>
            <a:pPr algn="l" marL="561339" indent="-280669" lvl="1">
              <a:lnSpc>
                <a:spcPts val="3249"/>
              </a:lnSpc>
              <a:buAutoNum type="arabicPeriod" startAt="1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Deployment: Menyediakan antarmuka web interaktif berbasis Streamlit yang ramah bagi pengguna non-teknis.</a:t>
            </a:r>
          </a:p>
          <a:p>
            <a:pPr algn="just">
              <a:lnSpc>
                <a:spcPts val="324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-1706735" y="8965704"/>
            <a:ext cx="14060511" cy="2253111"/>
          </a:xfrm>
          <a:custGeom>
            <a:avLst/>
            <a:gdLst/>
            <a:ahLst/>
            <a:cxnLst/>
            <a:rect r="r" b="b" t="t" l="l"/>
            <a:pathLst>
              <a:path h="2253111" w="14060511">
                <a:moveTo>
                  <a:pt x="14060511" y="2253111"/>
                </a:moveTo>
                <a:lnTo>
                  <a:pt x="0" y="2253111"/>
                </a:lnTo>
                <a:lnTo>
                  <a:pt x="0" y="0"/>
                </a:lnTo>
                <a:lnTo>
                  <a:pt x="14060511" y="0"/>
                </a:lnTo>
                <a:lnTo>
                  <a:pt x="14060511" y="22531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35433" y="1364522"/>
            <a:ext cx="818542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TUJU</a:t>
            </a:r>
            <a:r>
              <a:rPr lang="en-US" sz="5199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AN PROYEK &amp; METRIK SUKSES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5934224" y="8965704"/>
            <a:ext cx="14060511" cy="2253111"/>
          </a:xfrm>
          <a:custGeom>
            <a:avLst/>
            <a:gdLst/>
            <a:ahLst/>
            <a:cxnLst/>
            <a:rect r="r" b="b" t="t" l="l"/>
            <a:pathLst>
              <a:path h="2253111" w="14060511">
                <a:moveTo>
                  <a:pt x="0" y="2253111"/>
                </a:moveTo>
                <a:lnTo>
                  <a:pt x="14060511" y="2253111"/>
                </a:lnTo>
                <a:lnTo>
                  <a:pt x="14060511" y="0"/>
                </a:lnTo>
                <a:lnTo>
                  <a:pt x="0" y="0"/>
                </a:lnTo>
                <a:lnTo>
                  <a:pt x="0" y="22531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04432" y="3407115"/>
            <a:ext cx="7868863" cy="367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etrik Kesuksesan Proyek:</a:t>
            </a:r>
          </a:p>
          <a:p>
            <a:pPr algn="just">
              <a:lnSpc>
                <a:spcPts val="3249"/>
              </a:lnSpc>
            </a:pPr>
          </a:p>
          <a:p>
            <a:pPr algn="l" marL="561339" indent="-280669" lvl="1">
              <a:lnSpc>
                <a:spcPts val="3249"/>
              </a:lnSpc>
              <a:buAutoNum type="arabicPeriod" startAt="1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F1-Score Kelas Spam: Menjadi metrik acuan utama (menyeimbangkan Precision d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an Recall kela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 Sp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m) karena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d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at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et 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ng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at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tidak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seim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ba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ng.</a:t>
            </a:r>
          </a:p>
          <a:p>
            <a:pPr algn="l" marL="561339" indent="-280669" lvl="1">
              <a:lnSpc>
                <a:spcPts val="3249"/>
              </a:lnSpc>
              <a:buAutoNum type="arabicPeriod" startAt="1"/>
            </a:pP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Latency: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Kla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sifik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si harus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berj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l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an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deng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an kecepatan milli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ec</a:t>
            </a:r>
            <a:r>
              <a:rPr lang="en-US" sz="25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ond-level untuk mendukung real-time filter.</a:t>
            </a:r>
          </a:p>
          <a:p>
            <a:pPr algn="just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2276" y="3578172"/>
            <a:ext cx="1239409" cy="4114800"/>
          </a:xfrm>
          <a:custGeom>
            <a:avLst/>
            <a:gdLst/>
            <a:ahLst/>
            <a:cxnLst/>
            <a:rect r="r" b="b" t="t" l="l"/>
            <a:pathLst>
              <a:path h="4114800" w="1239409">
                <a:moveTo>
                  <a:pt x="0" y="0"/>
                </a:moveTo>
                <a:lnTo>
                  <a:pt x="1239408" y="0"/>
                </a:lnTo>
                <a:lnTo>
                  <a:pt x="12394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982276" y="6872856"/>
            <a:ext cx="1239409" cy="1640231"/>
          </a:xfrm>
          <a:custGeom>
            <a:avLst/>
            <a:gdLst/>
            <a:ahLst/>
            <a:cxnLst/>
            <a:rect r="r" b="b" t="t" l="l"/>
            <a:pathLst>
              <a:path h="1640231" w="1239409">
                <a:moveTo>
                  <a:pt x="0" y="1640231"/>
                </a:moveTo>
                <a:lnTo>
                  <a:pt x="1239408" y="1640231"/>
                </a:lnTo>
                <a:lnTo>
                  <a:pt x="1239408" y="0"/>
                </a:lnTo>
                <a:lnTo>
                  <a:pt x="0" y="0"/>
                </a:lnTo>
                <a:lnTo>
                  <a:pt x="0" y="16402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6894" r="0" b="-43972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477379" y="8513087"/>
            <a:ext cx="4521868" cy="2655570"/>
          </a:xfrm>
          <a:custGeom>
            <a:avLst/>
            <a:gdLst/>
            <a:ahLst/>
            <a:cxnLst/>
            <a:rect r="r" b="b" t="t" l="l"/>
            <a:pathLst>
              <a:path h="2655570" w="4521868">
                <a:moveTo>
                  <a:pt x="4521868" y="0"/>
                </a:moveTo>
                <a:lnTo>
                  <a:pt x="0" y="0"/>
                </a:lnTo>
                <a:lnTo>
                  <a:pt x="0" y="2655570"/>
                </a:lnTo>
                <a:lnTo>
                  <a:pt x="4521868" y="2655570"/>
                </a:lnTo>
                <a:lnTo>
                  <a:pt x="45218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2455" y="-264531"/>
            <a:ext cx="2902310" cy="2950593"/>
          </a:xfrm>
          <a:custGeom>
            <a:avLst/>
            <a:gdLst/>
            <a:ahLst/>
            <a:cxnLst/>
            <a:rect r="r" b="b" t="t" l="l"/>
            <a:pathLst>
              <a:path h="2950593" w="2902310">
                <a:moveTo>
                  <a:pt x="0" y="0"/>
                </a:moveTo>
                <a:lnTo>
                  <a:pt x="2902310" y="0"/>
                </a:lnTo>
                <a:lnTo>
                  <a:pt x="2902310" y="2950593"/>
                </a:lnTo>
                <a:lnTo>
                  <a:pt x="0" y="2950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30349" y="1115516"/>
            <a:ext cx="9627302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DATASET &amp; ANALISIS KUALITAS DATA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510147" y="3707506"/>
            <a:ext cx="13749153" cy="163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Statistik Awal Dataset:</a:t>
            </a:r>
          </a:p>
          <a:p>
            <a:pPr algn="just" marL="1122678" indent="-374226" lvl="2">
              <a:lnSpc>
                <a:spcPts val="3249"/>
              </a:lnSpc>
              <a:buFont typeface="Arial"/>
              <a:buChar char="⚬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Sumber: SMS Spam Collection Dataset (Mirror Kaggle / UCI Machine Learning Repository).</a:t>
            </a:r>
          </a:p>
          <a:p>
            <a:pPr algn="just" marL="1122678" indent="-374226" lvl="2">
              <a:lnSpc>
                <a:spcPts val="3249"/>
              </a:lnSpc>
              <a:buFont typeface="Arial"/>
              <a:buChar char="⚬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Ukuran Asli: 5.572 baris teks SMS.</a:t>
            </a:r>
          </a:p>
          <a:p>
            <a:pPr algn="just">
              <a:lnSpc>
                <a:spcPts val="32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10147" y="5405496"/>
            <a:ext cx="13749153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Penanganan Kualitas Data:</a:t>
            </a:r>
          </a:p>
          <a:p>
            <a:pPr algn="just" marL="1122678" indent="-374226" lvl="2">
              <a:lnSpc>
                <a:spcPts val="3249"/>
              </a:lnSpc>
              <a:buFont typeface="Arial"/>
              <a:buChar char="⚬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Pembersihan Duplikat: Ditemukan 403 data duplikat yang langsung dihapus untuk mencegah bias evaluasi. Hasil akhir: 5.169 SMS unik.</a:t>
            </a:r>
          </a:p>
          <a:p>
            <a:pPr algn="just" marL="1122678" indent="-374226" lvl="2">
              <a:lnSpc>
                <a:spcPts val="3249"/>
              </a:lnSpc>
              <a:buFont typeface="Arial"/>
              <a:buChar char="⚬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Missing Values: Dipastikan 0 data kosong (seluruh baris terisi lengkap).</a:t>
            </a:r>
          </a:p>
          <a:p>
            <a:pPr algn="just">
              <a:lnSpc>
                <a:spcPts val="324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10147" y="7490714"/>
            <a:ext cx="13749153" cy="163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249"/>
              </a:lnSpc>
              <a:buFont typeface="Arial"/>
              <a:buChar char="•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Ketidakseimbangan Kelas (Class Imbalance):</a:t>
            </a:r>
          </a:p>
          <a:p>
            <a:pPr algn="just" marL="1122678" indent="-374226" lvl="2">
              <a:lnSpc>
                <a:spcPts val="3249"/>
              </a:lnSpc>
              <a:buFont typeface="Arial"/>
              <a:buChar char="⚬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Ham (Normal): 4.516 pesan (87.4%)</a:t>
            </a:r>
          </a:p>
          <a:p>
            <a:pPr algn="just" marL="1122678" indent="-374226" lvl="2">
              <a:lnSpc>
                <a:spcPts val="3249"/>
              </a:lnSpc>
              <a:buFont typeface="Arial"/>
              <a:buChar char="⚬"/>
            </a:pP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599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Spam: 653 pesan (12.6%)</a:t>
            </a:r>
          </a:p>
          <a:p>
            <a:pPr algn="just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6524" y="-1849433"/>
            <a:ext cx="4312945" cy="5687400"/>
          </a:xfrm>
          <a:custGeom>
            <a:avLst/>
            <a:gdLst/>
            <a:ahLst/>
            <a:cxnLst/>
            <a:rect r="r" b="b" t="t" l="l"/>
            <a:pathLst>
              <a:path h="5687400" w="4312945">
                <a:moveTo>
                  <a:pt x="0" y="0"/>
                </a:moveTo>
                <a:lnTo>
                  <a:pt x="4312945" y="0"/>
                </a:lnTo>
                <a:lnTo>
                  <a:pt x="4312945" y="5687401"/>
                </a:lnTo>
                <a:lnTo>
                  <a:pt x="0" y="568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306" y="5205696"/>
            <a:ext cx="4312945" cy="5687400"/>
          </a:xfrm>
          <a:custGeom>
            <a:avLst/>
            <a:gdLst/>
            <a:ahLst/>
            <a:cxnLst/>
            <a:rect r="r" b="b" t="t" l="l"/>
            <a:pathLst>
              <a:path h="5687400" w="4312945">
                <a:moveTo>
                  <a:pt x="0" y="0"/>
                </a:moveTo>
                <a:lnTo>
                  <a:pt x="4312945" y="0"/>
                </a:lnTo>
                <a:lnTo>
                  <a:pt x="4312945" y="5687401"/>
                </a:lnTo>
                <a:lnTo>
                  <a:pt x="0" y="568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2014" y="994267"/>
            <a:ext cx="9394803" cy="4149233"/>
            <a:chOff x="0" y="0"/>
            <a:chExt cx="2474351" cy="1092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4351" cy="1092802"/>
            </a:xfrm>
            <a:custGeom>
              <a:avLst/>
              <a:gdLst/>
              <a:ahLst/>
              <a:cxnLst/>
              <a:rect r="r" b="b" t="t" l="l"/>
              <a:pathLst>
                <a:path h="1092802" w="2474351">
                  <a:moveTo>
                    <a:pt x="42027" y="0"/>
                  </a:moveTo>
                  <a:lnTo>
                    <a:pt x="2432324" y="0"/>
                  </a:lnTo>
                  <a:cubicBezTo>
                    <a:pt x="2455535" y="0"/>
                    <a:pt x="2474351" y="18816"/>
                    <a:pt x="2474351" y="42027"/>
                  </a:cubicBezTo>
                  <a:lnTo>
                    <a:pt x="2474351" y="1050775"/>
                  </a:lnTo>
                  <a:cubicBezTo>
                    <a:pt x="2474351" y="1073986"/>
                    <a:pt x="2455535" y="1092802"/>
                    <a:pt x="2432324" y="1092802"/>
                  </a:cubicBezTo>
                  <a:lnTo>
                    <a:pt x="42027" y="1092802"/>
                  </a:lnTo>
                  <a:cubicBezTo>
                    <a:pt x="18816" y="1092802"/>
                    <a:pt x="0" y="1073986"/>
                    <a:pt x="0" y="1050775"/>
                  </a:cubicBezTo>
                  <a:lnTo>
                    <a:pt x="0" y="42027"/>
                  </a:lnTo>
                  <a:cubicBezTo>
                    <a:pt x="0" y="18816"/>
                    <a:pt x="18816" y="0"/>
                    <a:pt x="420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474351" cy="98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4974" y="5473940"/>
            <a:ext cx="9451843" cy="4141708"/>
            <a:chOff x="0" y="0"/>
            <a:chExt cx="2489374" cy="1090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9374" cy="1090820"/>
            </a:xfrm>
            <a:custGeom>
              <a:avLst/>
              <a:gdLst/>
              <a:ahLst/>
              <a:cxnLst/>
              <a:rect r="r" b="b" t="t" l="l"/>
              <a:pathLst>
                <a:path h="1090820" w="2489374">
                  <a:moveTo>
                    <a:pt x="41774" y="0"/>
                  </a:moveTo>
                  <a:lnTo>
                    <a:pt x="2447601" y="0"/>
                  </a:lnTo>
                  <a:cubicBezTo>
                    <a:pt x="2470671" y="0"/>
                    <a:pt x="2489374" y="18703"/>
                    <a:pt x="2489374" y="41774"/>
                  </a:cubicBezTo>
                  <a:lnTo>
                    <a:pt x="2489374" y="1049047"/>
                  </a:lnTo>
                  <a:cubicBezTo>
                    <a:pt x="2489374" y="1072118"/>
                    <a:pt x="2470671" y="1090820"/>
                    <a:pt x="2447601" y="1090820"/>
                  </a:cubicBezTo>
                  <a:lnTo>
                    <a:pt x="41774" y="1090820"/>
                  </a:lnTo>
                  <a:cubicBezTo>
                    <a:pt x="30695" y="1090820"/>
                    <a:pt x="20069" y="1086419"/>
                    <a:pt x="12235" y="1078585"/>
                  </a:cubicBezTo>
                  <a:cubicBezTo>
                    <a:pt x="4401" y="1070751"/>
                    <a:pt x="0" y="1060126"/>
                    <a:pt x="0" y="1049047"/>
                  </a:cubicBezTo>
                  <a:lnTo>
                    <a:pt x="0" y="41774"/>
                  </a:lnTo>
                  <a:cubicBezTo>
                    <a:pt x="0" y="18703"/>
                    <a:pt x="18703" y="0"/>
                    <a:pt x="41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04775"/>
              <a:ext cx="2489374" cy="986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23769" y="5951220"/>
            <a:ext cx="5327309" cy="4935901"/>
          </a:xfrm>
          <a:custGeom>
            <a:avLst/>
            <a:gdLst/>
            <a:ahLst/>
            <a:cxnLst/>
            <a:rect r="r" b="b" t="t" l="l"/>
            <a:pathLst>
              <a:path h="4935901" w="5327309">
                <a:moveTo>
                  <a:pt x="0" y="0"/>
                </a:moveTo>
                <a:lnTo>
                  <a:pt x="5327309" y="0"/>
                </a:lnTo>
                <a:lnTo>
                  <a:pt x="5327309" y="4935901"/>
                </a:lnTo>
                <a:lnTo>
                  <a:pt x="0" y="4935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3342518" y="-848905"/>
            <a:ext cx="5327309" cy="4935901"/>
          </a:xfrm>
          <a:custGeom>
            <a:avLst/>
            <a:gdLst/>
            <a:ahLst/>
            <a:cxnLst/>
            <a:rect r="r" b="b" t="t" l="l"/>
            <a:pathLst>
              <a:path h="4935901" w="5327309">
                <a:moveTo>
                  <a:pt x="0" y="4935901"/>
                </a:moveTo>
                <a:lnTo>
                  <a:pt x="5327309" y="4935901"/>
                </a:lnTo>
                <a:lnTo>
                  <a:pt x="5327309" y="0"/>
                </a:lnTo>
                <a:lnTo>
                  <a:pt x="0" y="0"/>
                </a:lnTo>
                <a:lnTo>
                  <a:pt x="0" y="493590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26817" y="3728402"/>
            <a:ext cx="7193904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FEATURE ENGINEERING &amp; 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9876" y="1599995"/>
            <a:ext cx="7909917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1. F</a:t>
            </a: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eature Engineering (Ekstraksi Fitur Awal):</a:t>
            </a:r>
          </a:p>
          <a:p>
            <a:pPr algn="just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Membuat 5 fitur numerik sebelum teks dibersihkan agar info struktur asli tidak hilang:</a:t>
            </a:r>
          </a:p>
          <a:p>
            <a:pPr algn="just" marL="1554480" indent="-388620" lvl="3">
              <a:lnSpc>
                <a:spcPts val="3359"/>
              </a:lnSpc>
              <a:buFont typeface="Arial"/>
              <a:buChar char="￭"/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char_count (panjang karakter), word_count (jumlah kata), has_number (kehadiran angka), has_currency (kehadiran simbol $/£/kata 'free'), dan exclamation_count (jumlah tanda seru !).</a:t>
            </a: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84286" y="5760445"/>
            <a:ext cx="8833219" cy="369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2. Tex</a:t>
            </a: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 Preprocessing Pipeline:</a:t>
            </a:r>
          </a:p>
          <a:p>
            <a:pPr algn="just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Case Folding: Mengubah seluruh teks menjadi huruf kecil (lowercase).</a:t>
            </a:r>
          </a:p>
          <a:p>
            <a:pPr algn="just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Cleaning: Menghapus angka, simbol, tanda baca, dan karakter non-alfabet.</a:t>
            </a:r>
          </a:p>
          <a:p>
            <a:pPr algn="just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Tokenizing: Memotong kalimat menjadi token kata individual.</a:t>
            </a:r>
          </a:p>
          <a:p>
            <a:pPr algn="just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Stopwords Removal: Menghapus kata umum tanpa makna unik (menggunakan kamus NLTK).</a:t>
            </a:r>
          </a:p>
          <a:p>
            <a:pPr algn="just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Stemming: Mengubah kata ke bentuk dasarnya menggunakan Porter Stemmer (contoh: winning/winner -&gt; win).</a:t>
            </a:r>
          </a:p>
          <a:p>
            <a:pPr algn="just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6524" y="-1849433"/>
            <a:ext cx="4312945" cy="5687400"/>
          </a:xfrm>
          <a:custGeom>
            <a:avLst/>
            <a:gdLst/>
            <a:ahLst/>
            <a:cxnLst/>
            <a:rect r="r" b="b" t="t" l="l"/>
            <a:pathLst>
              <a:path h="5687400" w="4312945">
                <a:moveTo>
                  <a:pt x="0" y="0"/>
                </a:moveTo>
                <a:lnTo>
                  <a:pt x="4312945" y="0"/>
                </a:lnTo>
                <a:lnTo>
                  <a:pt x="4312945" y="5687401"/>
                </a:lnTo>
                <a:lnTo>
                  <a:pt x="0" y="568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306" y="5205696"/>
            <a:ext cx="4312945" cy="5687400"/>
          </a:xfrm>
          <a:custGeom>
            <a:avLst/>
            <a:gdLst/>
            <a:ahLst/>
            <a:cxnLst/>
            <a:rect r="r" b="b" t="t" l="l"/>
            <a:pathLst>
              <a:path h="5687400" w="4312945">
                <a:moveTo>
                  <a:pt x="0" y="0"/>
                </a:moveTo>
                <a:lnTo>
                  <a:pt x="4312945" y="0"/>
                </a:lnTo>
                <a:lnTo>
                  <a:pt x="4312945" y="5687401"/>
                </a:lnTo>
                <a:lnTo>
                  <a:pt x="0" y="568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2014" y="994267"/>
            <a:ext cx="10272432" cy="4149233"/>
            <a:chOff x="0" y="0"/>
            <a:chExt cx="2705497" cy="1092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5496" cy="1092802"/>
            </a:xfrm>
            <a:custGeom>
              <a:avLst/>
              <a:gdLst/>
              <a:ahLst/>
              <a:cxnLst/>
              <a:rect r="r" b="b" t="t" l="l"/>
              <a:pathLst>
                <a:path h="1092802" w="2705496">
                  <a:moveTo>
                    <a:pt x="38437" y="0"/>
                  </a:moveTo>
                  <a:lnTo>
                    <a:pt x="2667060" y="0"/>
                  </a:lnTo>
                  <a:cubicBezTo>
                    <a:pt x="2688288" y="0"/>
                    <a:pt x="2705496" y="17209"/>
                    <a:pt x="2705496" y="38437"/>
                  </a:cubicBezTo>
                  <a:lnTo>
                    <a:pt x="2705496" y="1054365"/>
                  </a:lnTo>
                  <a:cubicBezTo>
                    <a:pt x="2705496" y="1064559"/>
                    <a:pt x="2701447" y="1074336"/>
                    <a:pt x="2694239" y="1081544"/>
                  </a:cubicBezTo>
                  <a:cubicBezTo>
                    <a:pt x="2687030" y="1088752"/>
                    <a:pt x="2677254" y="1092802"/>
                    <a:pt x="2667060" y="1092802"/>
                  </a:cubicBezTo>
                  <a:lnTo>
                    <a:pt x="38437" y="1092802"/>
                  </a:lnTo>
                  <a:cubicBezTo>
                    <a:pt x="17209" y="1092802"/>
                    <a:pt x="0" y="1075593"/>
                    <a:pt x="0" y="1054365"/>
                  </a:cubicBezTo>
                  <a:lnTo>
                    <a:pt x="0" y="38437"/>
                  </a:lnTo>
                  <a:cubicBezTo>
                    <a:pt x="0" y="17209"/>
                    <a:pt x="17209" y="0"/>
                    <a:pt x="3843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705497" cy="98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4974" y="5473940"/>
            <a:ext cx="9451843" cy="4141708"/>
            <a:chOff x="0" y="0"/>
            <a:chExt cx="2489374" cy="1090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9374" cy="1090820"/>
            </a:xfrm>
            <a:custGeom>
              <a:avLst/>
              <a:gdLst/>
              <a:ahLst/>
              <a:cxnLst/>
              <a:rect r="r" b="b" t="t" l="l"/>
              <a:pathLst>
                <a:path h="1090820" w="2489374">
                  <a:moveTo>
                    <a:pt x="41774" y="0"/>
                  </a:moveTo>
                  <a:lnTo>
                    <a:pt x="2447601" y="0"/>
                  </a:lnTo>
                  <a:cubicBezTo>
                    <a:pt x="2470671" y="0"/>
                    <a:pt x="2489374" y="18703"/>
                    <a:pt x="2489374" y="41774"/>
                  </a:cubicBezTo>
                  <a:lnTo>
                    <a:pt x="2489374" y="1049047"/>
                  </a:lnTo>
                  <a:cubicBezTo>
                    <a:pt x="2489374" y="1072118"/>
                    <a:pt x="2470671" y="1090820"/>
                    <a:pt x="2447601" y="1090820"/>
                  </a:cubicBezTo>
                  <a:lnTo>
                    <a:pt x="41774" y="1090820"/>
                  </a:lnTo>
                  <a:cubicBezTo>
                    <a:pt x="30695" y="1090820"/>
                    <a:pt x="20069" y="1086419"/>
                    <a:pt x="12235" y="1078585"/>
                  </a:cubicBezTo>
                  <a:cubicBezTo>
                    <a:pt x="4401" y="1070751"/>
                    <a:pt x="0" y="1060126"/>
                    <a:pt x="0" y="1049047"/>
                  </a:cubicBezTo>
                  <a:lnTo>
                    <a:pt x="0" y="41774"/>
                  </a:lnTo>
                  <a:cubicBezTo>
                    <a:pt x="0" y="18703"/>
                    <a:pt x="18703" y="0"/>
                    <a:pt x="41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04775"/>
              <a:ext cx="2489374" cy="986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23769" y="5951220"/>
            <a:ext cx="5327309" cy="4935901"/>
          </a:xfrm>
          <a:custGeom>
            <a:avLst/>
            <a:gdLst/>
            <a:ahLst/>
            <a:cxnLst/>
            <a:rect r="r" b="b" t="t" l="l"/>
            <a:pathLst>
              <a:path h="4935901" w="5327309">
                <a:moveTo>
                  <a:pt x="0" y="0"/>
                </a:moveTo>
                <a:lnTo>
                  <a:pt x="5327309" y="0"/>
                </a:lnTo>
                <a:lnTo>
                  <a:pt x="5327309" y="4935901"/>
                </a:lnTo>
                <a:lnTo>
                  <a:pt x="0" y="4935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3342518" y="-848905"/>
            <a:ext cx="5327309" cy="4935901"/>
          </a:xfrm>
          <a:custGeom>
            <a:avLst/>
            <a:gdLst/>
            <a:ahLst/>
            <a:cxnLst/>
            <a:rect r="r" b="b" t="t" l="l"/>
            <a:pathLst>
              <a:path h="4935901" w="5327309">
                <a:moveTo>
                  <a:pt x="0" y="4935901"/>
                </a:moveTo>
                <a:lnTo>
                  <a:pt x="5327309" y="4935901"/>
                </a:lnTo>
                <a:lnTo>
                  <a:pt x="5327309" y="0"/>
                </a:lnTo>
                <a:lnTo>
                  <a:pt x="0" y="0"/>
                </a:lnTo>
                <a:lnTo>
                  <a:pt x="0" y="493590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38054" y="3596880"/>
            <a:ext cx="6121246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PEMBAGIAN DATA &amp; VEKTORISASI TF-IDF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9876" y="1237340"/>
            <a:ext cx="9186941" cy="411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</a:t>
            </a: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embagian Dataset (Stratified Split):</a:t>
            </a:r>
          </a:p>
          <a:p>
            <a:pPr algn="just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Data dibagi menggunakan pengacakan berstrata (stratified split) untuk menjaga rasio Ham vs Spam tetap konsisten di setiap bagian:</a:t>
            </a:r>
          </a:p>
          <a:p>
            <a:pPr algn="just" marL="1554480" indent="-388620" lvl="3">
              <a:lnSpc>
                <a:spcPts val="3359"/>
              </a:lnSpc>
              <a:buFont typeface="Arial"/>
              <a:buChar char="￭"/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</a:t>
            </a: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ata Training (70%): 3.618 sampel (untuk melatih model)</a:t>
            </a:r>
          </a:p>
          <a:p>
            <a:pPr algn="just" marL="1554480" indent="-388620" lvl="3">
              <a:lnSpc>
                <a:spcPts val="3359"/>
              </a:lnSpc>
              <a:buFont typeface="Arial"/>
              <a:buChar char="￭"/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Data Validation (10%): 517 sampel (untuk evaluasi awal selama tuning)</a:t>
            </a:r>
          </a:p>
          <a:p>
            <a:pPr algn="just" marL="1554480" indent="-388620" lvl="3">
              <a:lnSpc>
                <a:spcPts val="3359"/>
              </a:lnSpc>
              <a:buFont typeface="Arial"/>
              <a:buChar char="￭"/>
            </a:pPr>
            <a:r>
              <a:rPr lang="en-US" sz="24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Data Testing (20%): 1.034 sampel (untuk pengujian akhir kinerja model)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84286" y="5750920"/>
            <a:ext cx="8833219" cy="381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R</a:t>
            </a: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epresentasi Teks (TF-IDF):</a:t>
            </a:r>
          </a:p>
          <a:p>
            <a:pPr algn="just" marL="1209036" indent="-403012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Menggunakan TfidfVectorizer untuk mengonversi kata hasil preprocessing menjadi nilai pembobotan numerik.</a:t>
            </a:r>
          </a:p>
          <a:p>
            <a:pPr algn="just" marL="1209036" indent="-403012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Pembatasan maksimum fitur: 6.000 fitur (n-gram unik) untuk mencegah ledakan dimensi (curse of dimensionality).</a:t>
            </a:r>
          </a:p>
          <a:p>
            <a:pPr algn="just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74446" y="635589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8" y="0"/>
                </a:lnTo>
                <a:lnTo>
                  <a:pt x="2049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633184" y="-1242764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4114800"/>
                </a:moveTo>
                <a:lnTo>
                  <a:pt x="2049919" y="4114800"/>
                </a:lnTo>
                <a:lnTo>
                  <a:pt x="20499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284" y="3086098"/>
            <a:ext cx="1553442" cy="1095376"/>
          </a:xfrm>
          <a:custGeom>
            <a:avLst/>
            <a:gdLst/>
            <a:ahLst/>
            <a:cxnLst/>
            <a:rect r="r" b="b" t="t" l="l"/>
            <a:pathLst>
              <a:path h="1095376" w="1553442">
                <a:moveTo>
                  <a:pt x="0" y="0"/>
                </a:moveTo>
                <a:lnTo>
                  <a:pt x="1553442" y="0"/>
                </a:lnTo>
                <a:lnTo>
                  <a:pt x="1553442" y="1095376"/>
                </a:lnTo>
                <a:lnTo>
                  <a:pt x="0" y="1095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8158" y="4591049"/>
            <a:ext cx="15266248" cy="150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6" indent="-345438" lvl="1">
              <a:lnSpc>
                <a:spcPts val="3999"/>
              </a:lnSpc>
              <a:buAutoNum type="arabicPeriod" startAt="1"/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Support Vector Machine (SVM - Linear Kernel):</a:t>
            </a:r>
          </a:p>
          <a:p>
            <a:pPr algn="just" marL="1381751" indent="-460584" lvl="2">
              <a:lnSpc>
                <a:spcPts val="3999"/>
              </a:lnSpc>
              <a:buFont typeface="Arial"/>
              <a:buChar char="⚬"/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Parameter dituning: C (regularisasi): [0.1, 1, 10], dibekali class_weight='balanced'.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2739668" y="1308996"/>
            <a:ext cx="1811817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20"/>
              </a:lnSpc>
            </a:pPr>
            <a:r>
              <a:rPr lang="en-US" sz="4300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ALGORITMA &amp; HYPERPARAMETER TUNING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8143" y="3202131"/>
            <a:ext cx="13385454" cy="150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Multinomial Naive Bayes (MNB):</a:t>
            </a:r>
          </a:p>
          <a:p>
            <a:pPr algn="just" marL="690876" indent="-345438" lvl="1">
              <a:lnSpc>
                <a:spcPts val="3999"/>
              </a:lnSpc>
              <a:buFont typeface="Arial"/>
              <a:buChar char="•"/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Parameter dituning: alpha (smoothing parameter): [0.1, 0.5, 1.0, 1.5].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28323" y="5987153"/>
            <a:ext cx="14631354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Random Forest Classifier:</a:t>
            </a:r>
          </a:p>
          <a:p>
            <a:pPr algn="just" marL="690876" indent="-345438" lvl="1">
              <a:lnSpc>
                <a:spcPts val="3999"/>
              </a:lnSpc>
              <a:buFont typeface="Arial"/>
              <a:buChar char="•"/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Parameter dituning: n_estimators: [200, 400] &amp; max_depth: [None, 30], dibekali class_weight='balanced'.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95284" y="4562474"/>
            <a:ext cx="1553442" cy="1095376"/>
          </a:xfrm>
          <a:custGeom>
            <a:avLst/>
            <a:gdLst/>
            <a:ahLst/>
            <a:cxnLst/>
            <a:rect r="r" b="b" t="t" l="l"/>
            <a:pathLst>
              <a:path h="1095376" w="1553442">
                <a:moveTo>
                  <a:pt x="0" y="0"/>
                </a:moveTo>
                <a:lnTo>
                  <a:pt x="1553442" y="0"/>
                </a:lnTo>
                <a:lnTo>
                  <a:pt x="1553442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95284" y="6134099"/>
            <a:ext cx="1553442" cy="1095376"/>
          </a:xfrm>
          <a:custGeom>
            <a:avLst/>
            <a:gdLst/>
            <a:ahLst/>
            <a:cxnLst/>
            <a:rect r="r" b="b" t="t" l="l"/>
            <a:pathLst>
              <a:path h="1095376" w="1553442">
                <a:moveTo>
                  <a:pt x="0" y="0"/>
                </a:moveTo>
                <a:lnTo>
                  <a:pt x="1553442" y="0"/>
                </a:lnTo>
                <a:lnTo>
                  <a:pt x="1553442" y="1095376"/>
                </a:lnTo>
                <a:lnTo>
                  <a:pt x="0" y="1095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28323" y="7718798"/>
            <a:ext cx="14631354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XGBoost Classifier:</a:t>
            </a:r>
          </a:p>
          <a:p>
            <a:pPr algn="just" marL="690876" indent="-345438" lvl="1">
              <a:lnSpc>
                <a:spcPts val="3999"/>
              </a:lnSpc>
              <a:buFont typeface="Arial"/>
              <a:buChar char="•"/>
            </a:pPr>
            <a:r>
              <a:rPr lang="en-US" sz="31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Parameter dituning: n_estimators, max_depth, learning_rate, dibekali scale_pos_weight.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95284" y="7718798"/>
            <a:ext cx="1553442" cy="1095376"/>
          </a:xfrm>
          <a:custGeom>
            <a:avLst/>
            <a:gdLst/>
            <a:ahLst/>
            <a:cxnLst/>
            <a:rect r="r" b="b" t="t" l="l"/>
            <a:pathLst>
              <a:path h="1095376" w="1553442">
                <a:moveTo>
                  <a:pt x="0" y="0"/>
                </a:moveTo>
                <a:lnTo>
                  <a:pt x="1553442" y="0"/>
                </a:lnTo>
                <a:lnTo>
                  <a:pt x="1553442" y="1095376"/>
                </a:lnTo>
                <a:lnTo>
                  <a:pt x="0" y="1095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7173" y="2302164"/>
            <a:ext cx="15920827" cy="71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5"/>
              </a:lnSpc>
            </a:pPr>
            <a:r>
              <a:rPr lang="en-US" sz="2300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Menggunakan GridSearchCV dengan 5-Fold Cross Validation (mengoptimalkan metrik F1-Score pada data training).</a:t>
            </a:r>
          </a:p>
          <a:p>
            <a:pPr algn="just">
              <a:lnSpc>
                <a:spcPts val="287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11351" y="1921320"/>
            <a:ext cx="2788650" cy="6444360"/>
          </a:xfrm>
          <a:custGeom>
            <a:avLst/>
            <a:gdLst/>
            <a:ahLst/>
            <a:cxnLst/>
            <a:rect r="r" b="b" t="t" l="l"/>
            <a:pathLst>
              <a:path h="6444360" w="2788650">
                <a:moveTo>
                  <a:pt x="0" y="0"/>
                </a:moveTo>
                <a:lnTo>
                  <a:pt x="2788650" y="0"/>
                </a:lnTo>
                <a:lnTo>
                  <a:pt x="2788650" y="6444360"/>
                </a:lnTo>
                <a:lnTo>
                  <a:pt x="0" y="644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673690" y="1921320"/>
            <a:ext cx="2788650" cy="6444360"/>
          </a:xfrm>
          <a:custGeom>
            <a:avLst/>
            <a:gdLst/>
            <a:ahLst/>
            <a:cxnLst/>
            <a:rect r="r" b="b" t="t" l="l"/>
            <a:pathLst>
              <a:path h="6444360" w="2788650">
                <a:moveTo>
                  <a:pt x="2788650" y="0"/>
                </a:moveTo>
                <a:lnTo>
                  <a:pt x="0" y="0"/>
                </a:lnTo>
                <a:lnTo>
                  <a:pt x="0" y="6444360"/>
                </a:lnTo>
                <a:lnTo>
                  <a:pt x="2788650" y="6444360"/>
                </a:lnTo>
                <a:lnTo>
                  <a:pt x="27886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1921320"/>
          <a:ext cx="15890385" cy="7715250"/>
        </p:xfrm>
        <a:graphic>
          <a:graphicData uri="http://schemas.openxmlformats.org/drawingml/2006/table">
            <a:tbl>
              <a:tblPr/>
              <a:tblGrid>
                <a:gridCol w="2568133"/>
                <a:gridCol w="2173572"/>
                <a:gridCol w="2047272"/>
                <a:gridCol w="2047272"/>
                <a:gridCol w="2047272"/>
                <a:gridCol w="2047272"/>
                <a:gridCol w="2959593"/>
              </a:tblGrid>
              <a:tr h="18474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 b="true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b="true" sz="3999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Recall (Spam)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Precision (Spam)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sario Bold"/>
                          <a:ea typeface="Rosario Bold"/>
                          <a:cs typeface="Rosario Bold"/>
                          <a:sym typeface="Rosario Bold"/>
                        </a:rPr>
                        <a:t>Hyperparameter Terbaik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5E6"/>
                    </a:solidFill>
                  </a:tcPr>
                </a:tc>
              </a:tr>
              <a:tr h="1052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90.62%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99.04%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88.55%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92.80%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97.68%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C: 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6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90.08%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98.88%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83.21%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98.20%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97.68%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max_depth: 30, n_estimators: 400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5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89.24%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98.59%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85.50%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93.33%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97.39%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alpha: 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87.94%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98.15%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86.26%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89.68%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97.00%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sario"/>
                          <a:ea typeface="Rosario"/>
                          <a:cs typeface="Rosario"/>
                          <a:sym typeface="Rosario"/>
                        </a:rPr>
                        <a:t>learning_rate: 0.1, max_depth: 6...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828658" y="1131063"/>
            <a:ext cx="14147787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</a:pPr>
            <a:r>
              <a:rPr lang="en-US" sz="4200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TABEL HASIL EVALUASI MODEL PADA TEST SET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11351" y="1921320"/>
            <a:ext cx="2788650" cy="6444360"/>
          </a:xfrm>
          <a:custGeom>
            <a:avLst/>
            <a:gdLst/>
            <a:ahLst/>
            <a:cxnLst/>
            <a:rect r="r" b="b" t="t" l="l"/>
            <a:pathLst>
              <a:path h="6444360" w="2788650">
                <a:moveTo>
                  <a:pt x="0" y="0"/>
                </a:moveTo>
                <a:lnTo>
                  <a:pt x="2788650" y="0"/>
                </a:lnTo>
                <a:lnTo>
                  <a:pt x="2788650" y="6444360"/>
                </a:lnTo>
                <a:lnTo>
                  <a:pt x="0" y="644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673690" y="1921320"/>
            <a:ext cx="2788650" cy="6444360"/>
          </a:xfrm>
          <a:custGeom>
            <a:avLst/>
            <a:gdLst/>
            <a:ahLst/>
            <a:cxnLst/>
            <a:rect r="r" b="b" t="t" l="l"/>
            <a:pathLst>
              <a:path h="6444360" w="2788650">
                <a:moveTo>
                  <a:pt x="2788650" y="0"/>
                </a:moveTo>
                <a:lnTo>
                  <a:pt x="0" y="0"/>
                </a:lnTo>
                <a:lnTo>
                  <a:pt x="0" y="6444360"/>
                </a:lnTo>
                <a:lnTo>
                  <a:pt x="2788650" y="6444360"/>
                </a:lnTo>
                <a:lnTo>
                  <a:pt x="27886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0242" y="8899080"/>
            <a:ext cx="7315200" cy="2234461"/>
          </a:xfrm>
          <a:custGeom>
            <a:avLst/>
            <a:gdLst/>
            <a:ahLst/>
            <a:cxnLst/>
            <a:rect r="r" b="b" t="t" l="l"/>
            <a:pathLst>
              <a:path h="2234461" w="7315200">
                <a:moveTo>
                  <a:pt x="0" y="0"/>
                </a:moveTo>
                <a:lnTo>
                  <a:pt x="7315200" y="0"/>
                </a:lnTo>
                <a:lnTo>
                  <a:pt x="7315200" y="2234461"/>
                </a:lnTo>
                <a:lnTo>
                  <a:pt x="0" y="2234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11351" y="-709063"/>
            <a:ext cx="7315200" cy="2234461"/>
          </a:xfrm>
          <a:custGeom>
            <a:avLst/>
            <a:gdLst/>
            <a:ahLst/>
            <a:cxnLst/>
            <a:rect r="r" b="b" t="t" l="l"/>
            <a:pathLst>
              <a:path h="2234461" w="7315200">
                <a:moveTo>
                  <a:pt x="0" y="2234461"/>
                </a:moveTo>
                <a:lnTo>
                  <a:pt x="7315200" y="2234461"/>
                </a:lnTo>
                <a:lnTo>
                  <a:pt x="7315200" y="0"/>
                </a:lnTo>
                <a:lnTo>
                  <a:pt x="0" y="0"/>
                </a:lnTo>
                <a:lnTo>
                  <a:pt x="0" y="22344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51601" y="2129186"/>
            <a:ext cx="1414778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0"/>
              </a:lnSpc>
            </a:pPr>
            <a:r>
              <a:rPr lang="en-US" sz="4500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TABEL HASIL EVALUASI MODEL PADA TEST 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33923"/>
            <a:ext cx="14636803" cy="411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4"/>
              </a:lnSpc>
            </a:pPr>
            <a:r>
              <a:rPr lang="en-US" sz="32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             Justifikasi Pemilihan SVM:</a:t>
            </a:r>
          </a:p>
          <a:p>
            <a:pPr algn="just">
              <a:lnSpc>
                <a:spcPts val="4124"/>
              </a:lnSpc>
            </a:pPr>
          </a:p>
          <a:p>
            <a:pPr algn="just" marL="1424930" indent="-474977" lvl="2">
              <a:lnSpc>
                <a:spcPts val="4124"/>
              </a:lnSpc>
              <a:buFont typeface="Arial"/>
              <a:buChar char="⚬"/>
            </a:pPr>
            <a:r>
              <a:rPr lang="en-US" sz="32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F1-Score Kelas Spam Tertinggi (90.62%) dikombinasikan dengan tingkat Recall Spam Terbaik (88.55%).</a:t>
            </a:r>
          </a:p>
          <a:p>
            <a:pPr algn="just" marL="1424930" indent="-474977" lvl="2">
              <a:lnSpc>
                <a:spcPts val="4124"/>
              </a:lnSpc>
              <a:buFont typeface="Arial"/>
              <a:buChar char="⚬"/>
            </a:pPr>
            <a:r>
              <a:rPr lang="en-US" sz="32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Meminimalkan risiko meloloskan pesan spam berbahaya (false negatives) tanpa memicu bias berlebihan.</a:t>
            </a:r>
          </a:p>
          <a:p>
            <a:pPr algn="just">
              <a:lnSpc>
                <a:spcPts val="4124"/>
              </a:lnSpc>
            </a:pPr>
          </a:p>
          <a:p>
            <a:pPr algn="just">
              <a:lnSpc>
                <a:spcPts val="412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8749" y="1028700"/>
            <a:ext cx="7316863" cy="8229600"/>
          </a:xfrm>
          <a:custGeom>
            <a:avLst/>
            <a:gdLst/>
            <a:ahLst/>
            <a:cxnLst/>
            <a:rect r="r" b="b" t="t" l="l"/>
            <a:pathLst>
              <a:path h="8229600" w="7316863">
                <a:moveTo>
                  <a:pt x="0" y="0"/>
                </a:moveTo>
                <a:lnTo>
                  <a:pt x="7316863" y="0"/>
                </a:lnTo>
                <a:lnTo>
                  <a:pt x="73168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93570" y="8674012"/>
            <a:ext cx="4962863" cy="2716040"/>
          </a:xfrm>
          <a:custGeom>
            <a:avLst/>
            <a:gdLst/>
            <a:ahLst/>
            <a:cxnLst/>
            <a:rect r="r" b="b" t="t" l="l"/>
            <a:pathLst>
              <a:path h="2716040" w="4962863">
                <a:moveTo>
                  <a:pt x="0" y="0"/>
                </a:moveTo>
                <a:lnTo>
                  <a:pt x="4962863" y="0"/>
                </a:lnTo>
                <a:lnTo>
                  <a:pt x="4962863" y="2716039"/>
                </a:lnTo>
                <a:lnTo>
                  <a:pt x="0" y="2716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31128" y="-1064332"/>
            <a:ext cx="4544215" cy="4527322"/>
          </a:xfrm>
          <a:custGeom>
            <a:avLst/>
            <a:gdLst/>
            <a:ahLst/>
            <a:cxnLst/>
            <a:rect r="r" b="b" t="t" l="l"/>
            <a:pathLst>
              <a:path h="4527322" w="4544215">
                <a:moveTo>
                  <a:pt x="0" y="0"/>
                </a:moveTo>
                <a:lnTo>
                  <a:pt x="4544215" y="0"/>
                </a:lnTo>
                <a:lnTo>
                  <a:pt x="4544215" y="4527321"/>
                </a:lnTo>
                <a:lnTo>
                  <a:pt x="0" y="4527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7953487" y="-91316"/>
            <a:ext cx="9305813" cy="11453308"/>
            <a:chOff x="0" y="0"/>
            <a:chExt cx="660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A4C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4775"/>
              <a:ext cx="660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9945" y="-774513"/>
            <a:ext cx="4962863" cy="2716040"/>
          </a:xfrm>
          <a:custGeom>
            <a:avLst/>
            <a:gdLst/>
            <a:ahLst/>
            <a:cxnLst/>
            <a:rect r="r" b="b" t="t" l="l"/>
            <a:pathLst>
              <a:path h="2716040" w="4962863">
                <a:moveTo>
                  <a:pt x="0" y="0"/>
                </a:moveTo>
                <a:lnTo>
                  <a:pt x="4962864" y="0"/>
                </a:lnTo>
                <a:lnTo>
                  <a:pt x="4962864" y="2716040"/>
                </a:lnTo>
                <a:lnTo>
                  <a:pt x="0" y="2716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220240"/>
            <a:ext cx="6497189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INTERPRETASI MODEL &amp; INSIGHT BISNIS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484630"/>
            <a:ext cx="7558123" cy="875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K</a:t>
            </a: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ata Berpengaruh Utama (SHAP Feature Importance):</a:t>
            </a:r>
          </a:p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Kata penanda kuat kelas Spam: free, txt, call, claim, stop, mobile, reply, service.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Insight Bisnis Utama:</a:t>
            </a:r>
          </a:p>
          <a:p>
            <a:pPr algn="l" marL="604518" indent="-302259" lvl="1">
              <a:lnSpc>
                <a:spcPts val="3499"/>
              </a:lnSpc>
              <a:buAutoNum type="arabicPeriod" startAt="1"/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Pola Bahasa Urgensi: SMS Spam didominasi oleh kata-kata desakan aksi (call, txt, reply, claim) dan iming-iming gratis (free), mengindikasikan pola rekayasa sosial (social engineering).</a:t>
            </a:r>
          </a:p>
          <a:p>
            <a:pPr algn="l" marL="604518" indent="-302259" lvl="1">
              <a:lnSpc>
                <a:spcPts val="3499"/>
              </a:lnSpc>
              <a:buAutoNum type="arabicPeriod" startAt="1"/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Struktur Panjang Pesan: SMS Spam cenderung menggunakan template kalimat panjang yang seragam (rata-rata 130-150 karakter) guna memuat syarat &amp; ketentuan promosi palsu.</a:t>
            </a:r>
          </a:p>
          <a:p>
            <a:pPr algn="l" marL="604518" indent="-302259" lvl="1">
              <a:lnSpc>
                <a:spcPts val="3499"/>
              </a:lnSpc>
              <a:buAutoNum type="arabicPeriod" startAt="1"/>
            </a:pPr>
            <a:r>
              <a:rPr lang="en-US" sz="2799">
                <a:solidFill>
                  <a:srgbClr val="2C496B"/>
                </a:solidFill>
                <a:latin typeface="Rosario"/>
                <a:ea typeface="Rosario"/>
                <a:cs typeface="Rosario"/>
                <a:sym typeface="Rosario"/>
              </a:rPr>
              <a:t>Rekomendasi Integrasi: Model SVM linier sangat efisien dan siap diintegrasikan langsung pada SMS gateway operator seluler sebagai penyaring lalu lintas SMS real-time.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21524" y="1028700"/>
            <a:ext cx="6482582" cy="6376503"/>
          </a:xfrm>
          <a:custGeom>
            <a:avLst/>
            <a:gdLst/>
            <a:ahLst/>
            <a:cxnLst/>
            <a:rect r="r" b="b" t="t" l="l"/>
            <a:pathLst>
              <a:path h="6376503" w="6482582">
                <a:moveTo>
                  <a:pt x="0" y="0"/>
                </a:moveTo>
                <a:lnTo>
                  <a:pt x="6482582" y="0"/>
                </a:lnTo>
                <a:lnTo>
                  <a:pt x="6482582" y="6376503"/>
                </a:lnTo>
                <a:lnTo>
                  <a:pt x="0" y="6376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24934" y="-320093"/>
            <a:ext cx="1637513" cy="1637513"/>
          </a:xfrm>
          <a:custGeom>
            <a:avLst/>
            <a:gdLst/>
            <a:ahLst/>
            <a:cxnLst/>
            <a:rect r="r" b="b" t="t" l="l"/>
            <a:pathLst>
              <a:path h="1637513" w="1637513">
                <a:moveTo>
                  <a:pt x="0" y="0"/>
                </a:moveTo>
                <a:lnTo>
                  <a:pt x="1637513" y="0"/>
                </a:lnTo>
                <a:lnTo>
                  <a:pt x="1637513" y="1637513"/>
                </a:lnTo>
                <a:lnTo>
                  <a:pt x="0" y="163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69991" y="6442075"/>
            <a:ext cx="13194381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Rekomendasi Pengembangan (Recommendations):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Integrasi Gateway: Mengintegrasikan model langsung pada sistem SMS Gateway operator seluler untuk penyaringan otomatis sebelum SMS masuk ke perangkat pengguna.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Continuous Learning: Melakukan pembaruan data latih (retraining) secara berkala untuk mengenali pola SMS spam baru yang dinamis (misalnya pola penipuan musiman).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Eksplorasi Deep Learning: Menyarankan penggunaan arsitektur berbasis Deep Learning (seperti LSTM atau BERT) pada penelitian selanjutnya untuk mengenali makna konteks kalimat yang lebih kompleks.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924934" y="9015301"/>
            <a:ext cx="1637513" cy="1637513"/>
          </a:xfrm>
          <a:custGeom>
            <a:avLst/>
            <a:gdLst/>
            <a:ahLst/>
            <a:cxnLst/>
            <a:rect r="r" b="b" t="t" l="l"/>
            <a:pathLst>
              <a:path h="1637513" w="1637513">
                <a:moveTo>
                  <a:pt x="0" y="0"/>
                </a:moveTo>
                <a:lnTo>
                  <a:pt x="1637513" y="0"/>
                </a:lnTo>
                <a:lnTo>
                  <a:pt x="1637513" y="1637513"/>
                </a:lnTo>
                <a:lnTo>
                  <a:pt x="0" y="163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773851">
            <a:off x="229435" y="-1500907"/>
            <a:ext cx="2419416" cy="4334459"/>
          </a:xfrm>
          <a:custGeom>
            <a:avLst/>
            <a:gdLst/>
            <a:ahLst/>
            <a:cxnLst/>
            <a:rect r="r" b="b" t="t" l="l"/>
            <a:pathLst>
              <a:path h="4334459" w="2419416">
                <a:moveTo>
                  <a:pt x="0" y="0"/>
                </a:moveTo>
                <a:lnTo>
                  <a:pt x="2419416" y="0"/>
                </a:lnTo>
                <a:lnTo>
                  <a:pt x="2419416" y="4334459"/>
                </a:lnTo>
                <a:lnTo>
                  <a:pt x="0" y="43344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9767" y="4075362"/>
            <a:ext cx="5522811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KESIMPULAN &amp; REKOMENDASI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69991" y="1269795"/>
            <a:ext cx="13194381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Kesimpulan Proyek (Conclusions):</a:t>
            </a:r>
          </a:p>
          <a:p>
            <a:pPr algn="just" marL="863604" indent="-287868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Model Terbaik: SVM (Linear Kernel) terpilih sebagai model produksi terbaik dengan F1-Score 90.62% dan Recall 88.55% pada data uji.</a:t>
            </a:r>
          </a:p>
          <a:p>
            <a:pPr algn="just" marL="863604" indent="-287868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Dampak Preprocessing &amp; Feature Engineering: Pembersihan teks yang tepat (stopword, stemming) serta ekstraksi fitur statistik (has_number, has_currency) sukses meningkatkan F1-score dibanding model baseline Naive Bayes.</a:t>
            </a:r>
          </a:p>
          <a:p>
            <a:pPr algn="just" marL="863604" indent="-287868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2000">
                <a:solidFill>
                  <a:srgbClr val="FFFAF4"/>
                </a:solidFill>
                <a:latin typeface="Rosario"/>
                <a:ea typeface="Rosario"/>
                <a:cs typeface="Rosario"/>
                <a:sym typeface="Rosario"/>
              </a:rPr>
              <a:t>Efisiensi Sistem: Pendekatan TF-IDF + SVM sangat ringan secara komputasi, menjamin waktu respons inferensi tingkat milidetik (millisecond-latency).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5975782">
            <a:off x="721714" y="7666828"/>
            <a:ext cx="2419416" cy="4334459"/>
          </a:xfrm>
          <a:custGeom>
            <a:avLst/>
            <a:gdLst/>
            <a:ahLst/>
            <a:cxnLst/>
            <a:rect r="r" b="b" t="t" l="l"/>
            <a:pathLst>
              <a:path h="4334459" w="2419416">
                <a:moveTo>
                  <a:pt x="2419416" y="0"/>
                </a:moveTo>
                <a:lnTo>
                  <a:pt x="0" y="0"/>
                </a:lnTo>
                <a:lnTo>
                  <a:pt x="0" y="4334459"/>
                </a:lnTo>
                <a:lnTo>
                  <a:pt x="2419416" y="4334459"/>
                </a:lnTo>
                <a:lnTo>
                  <a:pt x="241941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875764" y="-1282245"/>
            <a:ext cx="3214021" cy="5065077"/>
          </a:xfrm>
          <a:custGeom>
            <a:avLst/>
            <a:gdLst/>
            <a:ahLst/>
            <a:cxnLst/>
            <a:rect r="r" b="b" t="t" l="l"/>
            <a:pathLst>
              <a:path h="5065077" w="3214021">
                <a:moveTo>
                  <a:pt x="3214021" y="5065077"/>
                </a:moveTo>
                <a:lnTo>
                  <a:pt x="0" y="5065077"/>
                </a:lnTo>
                <a:lnTo>
                  <a:pt x="0" y="0"/>
                </a:lnTo>
                <a:lnTo>
                  <a:pt x="3214021" y="0"/>
                </a:lnTo>
                <a:lnTo>
                  <a:pt x="3214021" y="506507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5764" y="7683496"/>
            <a:ext cx="3214021" cy="5065077"/>
          </a:xfrm>
          <a:custGeom>
            <a:avLst/>
            <a:gdLst/>
            <a:ahLst/>
            <a:cxnLst/>
            <a:rect r="r" b="b" t="t" l="l"/>
            <a:pathLst>
              <a:path h="5065077" w="3214021">
                <a:moveTo>
                  <a:pt x="0" y="0"/>
                </a:moveTo>
                <a:lnTo>
                  <a:pt x="3214021" y="0"/>
                </a:lnTo>
                <a:lnTo>
                  <a:pt x="3214021" y="5065076"/>
                </a:lnTo>
                <a:lnTo>
                  <a:pt x="0" y="506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290" y="2129017"/>
            <a:ext cx="5571790" cy="3164902"/>
          </a:xfrm>
          <a:custGeom>
            <a:avLst/>
            <a:gdLst/>
            <a:ahLst/>
            <a:cxnLst/>
            <a:rect r="r" b="b" t="t" l="l"/>
            <a:pathLst>
              <a:path h="3164902" w="5571790">
                <a:moveTo>
                  <a:pt x="0" y="0"/>
                </a:moveTo>
                <a:lnTo>
                  <a:pt x="5571790" y="0"/>
                </a:lnTo>
                <a:lnTo>
                  <a:pt x="5571790" y="3164901"/>
                </a:lnTo>
                <a:lnTo>
                  <a:pt x="0" y="3164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83437" y="2159711"/>
            <a:ext cx="5544544" cy="3134207"/>
          </a:xfrm>
          <a:custGeom>
            <a:avLst/>
            <a:gdLst/>
            <a:ahLst/>
            <a:cxnLst/>
            <a:rect r="r" b="b" t="t" l="l"/>
            <a:pathLst>
              <a:path h="3134207" w="5544544">
                <a:moveTo>
                  <a:pt x="0" y="0"/>
                </a:moveTo>
                <a:lnTo>
                  <a:pt x="5544544" y="0"/>
                </a:lnTo>
                <a:lnTo>
                  <a:pt x="5544544" y="3134207"/>
                </a:lnTo>
                <a:lnTo>
                  <a:pt x="0" y="3134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3290" y="5594338"/>
            <a:ext cx="5571790" cy="3149609"/>
          </a:xfrm>
          <a:custGeom>
            <a:avLst/>
            <a:gdLst/>
            <a:ahLst/>
            <a:cxnLst/>
            <a:rect r="r" b="b" t="t" l="l"/>
            <a:pathLst>
              <a:path h="3149609" w="5571790">
                <a:moveTo>
                  <a:pt x="0" y="0"/>
                </a:moveTo>
                <a:lnTo>
                  <a:pt x="5571790" y="0"/>
                </a:lnTo>
                <a:lnTo>
                  <a:pt x="5571790" y="3149608"/>
                </a:lnTo>
                <a:lnTo>
                  <a:pt x="0" y="3149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83437" y="5594338"/>
            <a:ext cx="5544544" cy="3149609"/>
          </a:xfrm>
          <a:custGeom>
            <a:avLst/>
            <a:gdLst/>
            <a:ahLst/>
            <a:cxnLst/>
            <a:rect r="r" b="b" t="t" l="l"/>
            <a:pathLst>
              <a:path h="3149609" w="5544544">
                <a:moveTo>
                  <a:pt x="0" y="0"/>
                </a:moveTo>
                <a:lnTo>
                  <a:pt x="5544544" y="0"/>
                </a:lnTo>
                <a:lnTo>
                  <a:pt x="5544544" y="3149608"/>
                </a:lnTo>
                <a:lnTo>
                  <a:pt x="0" y="3149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79237" y="4319645"/>
            <a:ext cx="5466530" cy="3074923"/>
          </a:xfrm>
          <a:custGeom>
            <a:avLst/>
            <a:gdLst/>
            <a:ahLst/>
            <a:cxnLst/>
            <a:rect r="r" b="b" t="t" l="l"/>
            <a:pathLst>
              <a:path h="3074923" w="5466530">
                <a:moveTo>
                  <a:pt x="0" y="0"/>
                </a:moveTo>
                <a:lnTo>
                  <a:pt x="5466529" y="0"/>
                </a:lnTo>
                <a:lnTo>
                  <a:pt x="5466529" y="3074923"/>
                </a:lnTo>
                <a:lnTo>
                  <a:pt x="0" y="3074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42975"/>
            <a:ext cx="109927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00"/>
              </a:lnSpc>
            </a:pPr>
            <a:r>
              <a:rPr lang="en-US" sz="4500">
                <a:solidFill>
                  <a:srgbClr val="2C496B"/>
                </a:solidFill>
                <a:latin typeface="IM Fell"/>
                <a:ea typeface="IM Fell"/>
                <a:cs typeface="IM Fell"/>
                <a:sym typeface="IM Fell"/>
              </a:rPr>
              <a:t>DEPLOYMENT APLIKASI STREAMLIT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9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8016" y="2309723"/>
            <a:ext cx="2725851" cy="2671334"/>
          </a:xfrm>
          <a:custGeom>
            <a:avLst/>
            <a:gdLst/>
            <a:ahLst/>
            <a:cxnLst/>
            <a:rect r="r" b="b" t="t" l="l"/>
            <a:pathLst>
              <a:path h="2671334" w="2725851">
                <a:moveTo>
                  <a:pt x="0" y="0"/>
                </a:moveTo>
                <a:lnTo>
                  <a:pt x="2725851" y="0"/>
                </a:lnTo>
                <a:lnTo>
                  <a:pt x="2725851" y="2671335"/>
                </a:lnTo>
                <a:lnTo>
                  <a:pt x="0" y="2671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20266" y="4981058"/>
            <a:ext cx="4026383" cy="3945855"/>
          </a:xfrm>
          <a:custGeom>
            <a:avLst/>
            <a:gdLst/>
            <a:ahLst/>
            <a:cxnLst/>
            <a:rect r="r" b="b" t="t" l="l"/>
            <a:pathLst>
              <a:path h="3945855" w="4026383">
                <a:moveTo>
                  <a:pt x="4026383" y="0"/>
                </a:moveTo>
                <a:lnTo>
                  <a:pt x="0" y="0"/>
                </a:lnTo>
                <a:lnTo>
                  <a:pt x="0" y="3945854"/>
                </a:lnTo>
                <a:lnTo>
                  <a:pt x="4026383" y="3945854"/>
                </a:lnTo>
                <a:lnTo>
                  <a:pt x="40263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5860" y="8388750"/>
            <a:ext cx="4962863" cy="2716040"/>
          </a:xfrm>
          <a:custGeom>
            <a:avLst/>
            <a:gdLst/>
            <a:ahLst/>
            <a:cxnLst/>
            <a:rect r="r" b="b" t="t" l="l"/>
            <a:pathLst>
              <a:path h="2716040" w="4962863">
                <a:moveTo>
                  <a:pt x="0" y="0"/>
                </a:moveTo>
                <a:lnTo>
                  <a:pt x="4962863" y="0"/>
                </a:lnTo>
                <a:lnTo>
                  <a:pt x="4962863" y="2716040"/>
                </a:lnTo>
                <a:lnTo>
                  <a:pt x="0" y="2716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30152" y="4304216"/>
            <a:ext cx="8772238" cy="150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6"/>
              </a:lnSpc>
            </a:pPr>
            <a:r>
              <a:rPr lang="en-US" sz="8804">
                <a:solidFill>
                  <a:srgbClr val="FFFAF4"/>
                </a:solidFill>
                <a:latin typeface="IM Fell"/>
                <a:ea typeface="IM Fell"/>
                <a:cs typeface="IM Fell"/>
                <a:sym typeface="IM Fell"/>
              </a:rPr>
              <a:t>TERIMA KASIH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61036" y="-1358020"/>
            <a:ext cx="4962863" cy="2716040"/>
          </a:xfrm>
          <a:custGeom>
            <a:avLst/>
            <a:gdLst/>
            <a:ahLst/>
            <a:cxnLst/>
            <a:rect r="r" b="b" t="t" l="l"/>
            <a:pathLst>
              <a:path h="2716040" w="4962863">
                <a:moveTo>
                  <a:pt x="0" y="0"/>
                </a:moveTo>
                <a:lnTo>
                  <a:pt x="4962864" y="0"/>
                </a:lnTo>
                <a:lnTo>
                  <a:pt x="4962864" y="2716040"/>
                </a:lnTo>
                <a:lnTo>
                  <a:pt x="0" y="2716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DAHPycmsua0</dc:identifier>
  <dcterms:modified xsi:type="dcterms:W3CDTF">2011-08-01T06:04:30Z</dcterms:modified>
  <cp:revision>1</cp:revision>
  <dc:title>SMS SPAM VASYA</dc:title>
</cp:coreProperties>
</file>